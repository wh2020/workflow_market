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80000"/>
          </a:xfrm>
          <a:prstGeom prst="rect">
            <a:avLst/>
          </a:prstGeom>
          <a:solidFill>
            <a:srgbClr val="1F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98755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7201C"/>
                </a:solidFill>
                <a:latin typeface="Microsoft YaHei"/>
              </a:rPr>
              <a:t>销售复盘报告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9601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67706B"/>
                </a:solidFill>
                <a:latin typeface="Microsoft YaHei"/>
              </a:rPr>
              <a:t>[主题或一句话结论]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40680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7706B"/>
                </a:solidFill>
                <a:latin typeface="Microsoft YaHei"/>
              </a:rPr>
              <a:t>[汇报对象]  |  [日期]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440680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1F8066"/>
                </a:solidFill>
                <a:latin typeface="Microsoft YaHei"/>
              </a:rPr>
              <a:t>MARKET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8066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98755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8F9F7"/>
                </a:solidFill>
                <a:latin typeface="Microsoft YaHei"/>
              </a:rPr>
              <a:t>[章节标题]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9326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E6ECE8"/>
                </a:solidFill>
                <a:latin typeface="Microsoft YaHei"/>
              </a:rPr>
              <a:t>[这一章节要回答的问题]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7201C"/>
                </a:solidFill>
                <a:latin typeface="Microsoft YaHei"/>
              </a:rPr>
              <a:t>[结论式页面标题]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7706B"/>
                </a:solidFill>
                <a:latin typeface="Microsoft YaHei"/>
              </a:rPr>
              <a:t>[一句话说明本页为什么重要]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7706B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10945368" cy="22860"/>
          </a:xfrm>
          <a:prstGeom prst="rect">
            <a:avLst/>
          </a:prstGeom>
          <a:solidFill>
            <a:srgbClr val="E6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69494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400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7201C"/>
                </a:solidFill>
                <a:latin typeface="Microsoft YaHei"/>
              </a:rPr>
              <a:t>[主要证据或图表区域]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33472"/>
            <a:ext cx="82296" cy="82296"/>
          </a:xfrm>
          <a:prstGeom prst="ellipse">
            <a:avLst/>
          </a:prstGeom>
          <a:solidFill>
            <a:srgbClr val="1F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14600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7201C"/>
                </a:solidFill>
                <a:latin typeface="Microsoft YaHei"/>
              </a:rPr>
              <a:t>[关键事实 1]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32047"/>
            <a:ext cx="82296" cy="82296"/>
          </a:xfrm>
          <a:prstGeom prst="ellipse">
            <a:avLst/>
          </a:prstGeom>
          <a:solidFill>
            <a:srgbClr val="1F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313175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7201C"/>
                </a:solidFill>
                <a:latin typeface="Microsoft YaHei"/>
              </a:rPr>
              <a:t>[关键事实 2]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30623"/>
            <a:ext cx="82296" cy="82296"/>
          </a:xfrm>
          <a:prstGeom prst="ellipse">
            <a:avLst/>
          </a:prstGeom>
          <a:solidFill>
            <a:srgbClr val="1F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11751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7201C"/>
                </a:solidFill>
                <a:latin typeface="Microsoft YaHei"/>
              </a:rPr>
              <a:t>[关键事实 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50876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E6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82880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201C"/>
                </a:solidFill>
                <a:latin typeface="Microsoft YaHei"/>
              </a:rPr>
              <a:t>管理含义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2587752"/>
            <a:ext cx="82296" cy="82296"/>
          </a:xfrm>
          <a:prstGeom prst="ellipse">
            <a:avLst/>
          </a:prstGeom>
          <a:solidFill>
            <a:srgbClr val="D4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2468880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7201C"/>
                </a:solidFill>
                <a:latin typeface="Microsoft YaHei"/>
              </a:rPr>
              <a:t>[判断]</a:t>
            </a:r>
          </a:p>
        </p:txBody>
      </p:sp>
      <p:sp>
        <p:nvSpPr>
          <p:cNvPr id="18" name="Oval 17"/>
          <p:cNvSpPr/>
          <p:nvPr/>
        </p:nvSpPr>
        <p:spPr>
          <a:xfrm>
            <a:off x="8183879" y="3508248"/>
            <a:ext cx="82296" cy="82296"/>
          </a:xfrm>
          <a:prstGeom prst="ellipse">
            <a:avLst/>
          </a:prstGeom>
          <a:solidFill>
            <a:srgbClr val="D4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3389376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7201C"/>
                </a:solidFill>
                <a:latin typeface="Microsoft YaHei"/>
              </a:rPr>
              <a:t>[建议行动]</a:t>
            </a:r>
          </a:p>
        </p:txBody>
      </p:sp>
      <p:sp>
        <p:nvSpPr>
          <p:cNvPr id="20" name="Oval 19"/>
          <p:cNvSpPr/>
          <p:nvPr/>
        </p:nvSpPr>
        <p:spPr>
          <a:xfrm>
            <a:off x="8183879" y="4428744"/>
            <a:ext cx="82296" cy="82296"/>
          </a:xfrm>
          <a:prstGeom prst="ellipse">
            <a:avLst/>
          </a:prstGeom>
          <a:solidFill>
            <a:srgbClr val="D4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4309872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7201C"/>
                </a:solidFill>
                <a:latin typeface="Microsoft YaHei"/>
              </a:rPr>
              <a:t>[责任人与期限]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7706B"/>
                </a:solidFill>
                <a:latin typeface="Microsoft YaHei"/>
              </a:rPr>
              <a:t>来源：[文件或链接]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97280"/>
            <a:ext cx="45720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7201C"/>
                </a:solidFill>
                <a:latin typeface="Microsoft YaHei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20240"/>
            <a:ext cx="7772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67706B"/>
                </a:solidFill>
                <a:latin typeface="Microsoft YaHei"/>
              </a:rPr>
              <a:t>[需要确认的决策与行动]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862072"/>
            <a:ext cx="82296" cy="82296"/>
          </a:xfrm>
          <a:prstGeom prst="ellipse">
            <a:avLst/>
          </a:prstGeom>
          <a:solidFill>
            <a:srgbClr val="1F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743200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7201C"/>
                </a:solidFill>
                <a:latin typeface="Microsoft YaHei"/>
              </a:rPr>
              <a:t>[行动 1]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630168"/>
            <a:ext cx="82296" cy="82296"/>
          </a:xfrm>
          <a:prstGeom prst="ellipse">
            <a:avLst/>
          </a:prstGeom>
          <a:solidFill>
            <a:srgbClr val="1F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511296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7201C"/>
                </a:solidFill>
                <a:latin typeface="Microsoft YaHei"/>
              </a:rPr>
              <a:t>[行动 2]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98264"/>
            <a:ext cx="82296" cy="82296"/>
          </a:xfrm>
          <a:prstGeom prst="ellipse">
            <a:avLst/>
          </a:prstGeom>
          <a:solidFill>
            <a:srgbClr val="1F8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279392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7201C"/>
                </a:solidFill>
                <a:latin typeface="Microsoft YaHei"/>
              </a:rPr>
              <a:t>[行动 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5394960"/>
            <a:ext cx="2011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1F8066"/>
                </a:solidFill>
                <a:latin typeface="Microsoft YaHei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销售复盘报告</dc:title>
  <dc:subject>可编辑市场演示文稿模板</dc:subject>
  <dc:creator>市场总监工作台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